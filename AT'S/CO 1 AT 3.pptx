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573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572000"/>
            <a:ext cx="4206240" cy="420624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Problems, Perspectives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Concept Learning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2519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how machines learn from data and how hypotheses are formed, represented, and refined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1280160" cy="0"/>
          </a:xfrm>
          <a:prstGeom prst="line">
            <a:avLst/>
          </a:prstGeom>
          <a:noFill/>
          <a:ln w="38100">
            <a:solidFill>
              <a:srgbClr val="E8B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THOUHID</a:t>
            </a:r>
            <a:b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192421280</a:t>
            </a:r>
            <a:b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ITA0609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15600" cy="1691640"/>
          </a:xfrm>
          <a:prstGeom prst="roundRect">
            <a:avLst>
              <a:gd name="adj" fmla="val 4324"/>
            </a:avLst>
          </a:prstGeom>
          <a:solidFill>
            <a:srgbClr val="F6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5374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5374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0" y="230428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Problems &amp; Perspectives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86000" y="285292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 &amp; reinforcement learning; symbolic vs. statistical approaches; key design issues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160520"/>
            <a:ext cx="10515600" cy="1691640"/>
          </a:xfrm>
          <a:prstGeom prst="roundRect">
            <a:avLst>
              <a:gd name="adj" fmla="val 4324"/>
            </a:avLst>
          </a:prstGeom>
          <a:solidFill>
            <a:srgbClr val="F6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45948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5948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286000" y="4361688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Learning &amp; Hypothesis Representation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86000" y="491032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learning task, hypothesis space, general-to-specific ordering, and the role of training examples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30175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Problems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Perspectives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learning, symbolic vs. statistical viewpoints, and the issues that shape system design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PROBLEMS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Core Types of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83280" cy="4023360"/>
          </a:xfrm>
          <a:prstGeom prst="roundRect">
            <a:avLst>
              <a:gd name="adj" fmla="val 2432"/>
            </a:avLst>
          </a:prstGeom>
          <a:solidFill>
            <a:srgbClr val="F6F7FB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2880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7280" y="3611880"/>
            <a:ext cx="28346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a mapping from labeled input–output pairs (e.g. classification, regression). The system is guided by a known correct answer for each example.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383280" cy="4023360"/>
          </a:xfrm>
          <a:prstGeom prst="roundRect">
            <a:avLst>
              <a:gd name="adj" fmla="val 2432"/>
            </a:avLst>
          </a:prstGeom>
          <a:solidFill>
            <a:srgbClr val="F6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8346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structure in unlabeled data, such as clustering or dimensionality reduction, without any target output provided.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383280" cy="4023360"/>
          </a:xfrm>
          <a:prstGeom prst="roundRect">
            <a:avLst>
              <a:gd name="adj" fmla="val 2432"/>
            </a:avLst>
          </a:prstGeom>
          <a:solidFill>
            <a:srgbClr val="F6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75320" y="2880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21040" y="3611880"/>
            <a:ext cx="28346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learns by interacting with an environment, taking actions and improving behavior from reward and penalty signals over time.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Symbolic vs. Statistical Approaches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contrasting philosophies for how a learning system should represent and reason about knowledge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74920" cy="41148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Symbolic Approach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83464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knowledge with explicit rules, logic, or hypothesis expressions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Emphasizes interpretability — a human can trace how a conclusion was reached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suited to structured domains such as concept learning and decision trees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struggle with noisy, high-dimensional, or ambiguous real-world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074920" cy="4114800"/>
          </a:xfrm>
          <a:prstGeom prst="roundRect">
            <a:avLst>
              <a:gd name="adj" fmla="val 2000"/>
            </a:avLst>
          </a:prstGeom>
          <a:solidFill>
            <a:srgbClr val="F6F7F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Approach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83464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2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knowledge as probability distributions and weighted parameters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2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directly from data, tolerating noise and uncertainty gracefully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2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modern approaches such as neural networks and probabilistic models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2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trades transparency for predictive accuracy — harder to explain decisions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That Shape Learning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83080" y="17830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09160" y="17830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Incomplete, noisy, or biased training data directly limits how well a model can generalize, regardless of algorithm choice.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017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9260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09160" y="29260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memorizes training data instead of learning general patterns performs poorly on new, unseen examples.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1605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83080" y="40690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Complexity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40690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time, memory use, and scalability constrain which algorithms are practical for large or real-time datasets.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39496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6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3949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factors influence how a system is designed — shaping algorithm choice, model complexity, and evaluation strategy.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Problem to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choice of learning problem and perspective flows into real system outcomes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141B4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51560" y="32004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Type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79476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unsupervised, or RL sets the objective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37560" y="356616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38728" y="237744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141B49"/>
          </a:solidFill>
          <a:ln/>
        </p:spPr>
      </p:sp>
      <p:sp>
        <p:nvSpPr>
          <p:cNvPr id="11" name="Text 9"/>
          <p:cNvSpPr/>
          <p:nvPr/>
        </p:nvSpPr>
        <p:spPr>
          <a:xfrm>
            <a:off x="3721608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67328" y="32004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67328" y="379476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or statistical shapes representation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53328" y="356616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54496" y="237744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141B49"/>
          </a:solidFill>
          <a:ln/>
        </p:spPr>
      </p:sp>
      <p:sp>
        <p:nvSpPr>
          <p:cNvPr id="16" name="Text 14"/>
          <p:cNvSpPr/>
          <p:nvPr/>
        </p:nvSpPr>
        <p:spPr>
          <a:xfrm>
            <a:off x="6437376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83096" y="32004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83096" y="379476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overfitting risk, compute budget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69096" y="356616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970264" y="2377440"/>
            <a:ext cx="2514600" cy="3108960"/>
          </a:xfrm>
          <a:prstGeom prst="roundRect">
            <a:avLst>
              <a:gd name="adj" fmla="val 3273"/>
            </a:avLst>
          </a:prstGeom>
          <a:solidFill>
            <a:srgbClr val="141B49"/>
          </a:solidFill>
          <a:ln/>
        </p:spPr>
      </p:sp>
      <p:sp>
        <p:nvSpPr>
          <p:cNvPr id="21" name="Text 19"/>
          <p:cNvSpPr/>
          <p:nvPr/>
        </p:nvSpPr>
        <p:spPr>
          <a:xfrm>
            <a:off x="9153144" y="2606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98864" y="320040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98864" y="379476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interpretability &amp; scalability trade-offs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30175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Learning and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Representation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4709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hypotheses are represented, ordered, and refined using training examples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 Learning 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6309360" cy="4160520"/>
          </a:xfrm>
          <a:prstGeom prst="roundRect">
            <a:avLst>
              <a:gd name="adj" fmla="val 1978"/>
            </a:avLst>
          </a:prstGeom>
          <a:solidFill>
            <a:srgbClr val="F6F7F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20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37744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learning is the task of inferring a boolean-valued function — a rule that decides whether an instance belongs to a target category — from a set of labeled training examples.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3657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411480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theoretical foundation for classification algorithms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the idea of searching a hypothesis space guided by data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22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Underpins how systems generalize from specific examples to rules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60920" y="1691640"/>
            <a:ext cx="3977640" cy="4160520"/>
          </a:xfrm>
          <a:prstGeom prst="roundRect">
            <a:avLst>
              <a:gd name="adj" fmla="val 206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Flow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35240" y="2514600"/>
            <a:ext cx="3429000" cy="777240"/>
          </a:xfrm>
          <a:prstGeom prst="roundRect">
            <a:avLst>
              <a:gd name="adj" fmla="val 8235"/>
            </a:avLst>
          </a:prstGeom>
          <a:solidFill>
            <a:srgbClr val="141B49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51460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“Sunny, Warm”)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35240" y="32918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35240" y="3611880"/>
            <a:ext cx="3429000" cy="777240"/>
          </a:xfrm>
          <a:prstGeom prst="roundRect">
            <a:avLst>
              <a:gd name="adj" fmla="val 8235"/>
            </a:avLst>
          </a:prstGeom>
          <a:solidFill>
            <a:srgbClr val="141B49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361188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(rule applied)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35240" y="43891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35240" y="4709160"/>
            <a:ext cx="3429000" cy="777240"/>
          </a:xfrm>
          <a:prstGeom prst="roundRect">
            <a:avLst>
              <a:gd name="adj" fmla="val 8235"/>
            </a:avLst>
          </a:prstGeom>
          <a:solidFill>
            <a:srgbClr val="141B49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4709160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(Yes / No)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Representation &amp; Evaluation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66360" cy="2286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hypothesis is typically written as a conjunction of constraints on instance attributes — for example, specific values, “?” (any value accepted), or ∅ (no value accepted). Together these constraints define which instances the hypothesis classifies as positive.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166360" cy="2286000"/>
          </a:xfrm>
          <a:prstGeom prst="roundRect">
            <a:avLst>
              <a:gd name="adj" fmla="val 3600"/>
            </a:avLst>
          </a:prstGeom>
          <a:solidFill>
            <a:srgbClr val="F6F7FB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617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is evaluated by checking how well it classifies the training examples — it should be consistent with every observed instance, correctly predicting positive and negative examples alike.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10515600" cy="1600200"/>
          </a:xfrm>
          <a:prstGeom prst="roundRect">
            <a:avLst>
              <a:gd name="adj" fmla="val 5143"/>
            </a:avLst>
          </a:prstGeom>
          <a:solidFill>
            <a:srgbClr val="F6F7F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Notation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800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5257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is acceptable for this attribute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0" y="4800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5257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value satisfies the hypothesis (rejects all)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80960" y="4800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⟨v1..vn⟩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80960" y="5257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required value per attribute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General-to-Specific Ordering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can be partially ordered by generality, which lets a learner search the space efficiently rather than checking every hypothesis individually.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86868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317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General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“?, ?” — accepts every instance as positive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3474720"/>
            <a:ext cx="59436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3474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468880" y="38862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constrained hypotheses in between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461772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4617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Specific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840480" y="5029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“∅, ∅” — accepts no instance as positive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784080" y="2331720"/>
            <a:ext cx="1554480" cy="3108960"/>
          </a:xfrm>
          <a:prstGeom prst="roundRect">
            <a:avLst>
              <a:gd name="adj" fmla="val 5294"/>
            </a:avLst>
          </a:prstGeom>
          <a:solidFill>
            <a:srgbClr val="F6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9784080" y="2331720"/>
            <a:ext cx="1554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Training Examples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example narrows the hypothesis space, guiding the learner toward a rule consistent with all observations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3383280" cy="3291840"/>
          </a:xfrm>
          <a:prstGeom prst="roundRect">
            <a:avLst>
              <a:gd name="adj" fmla="val 2500"/>
            </a:avLst>
          </a:prstGeom>
          <a:solidFill>
            <a:srgbClr val="141B49"/>
          </a:solidFill>
          <a:ln/>
        </p:spPr>
      </p:sp>
      <p:sp>
        <p:nvSpPr>
          <p:cNvPr id="6" name="Shape 4"/>
          <p:cNvSpPr/>
          <p:nvPr/>
        </p:nvSpPr>
        <p:spPr>
          <a:xfrm>
            <a:off x="2125980" y="2491740"/>
            <a:ext cx="777240" cy="7772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7" name="Text 5"/>
          <p:cNvSpPr/>
          <p:nvPr/>
        </p:nvSpPr>
        <p:spPr>
          <a:xfrm>
            <a:off x="2125980" y="24917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51560" y="3429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Example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97280" y="39776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hypothesis too specific to cover it must be generalized so the rule still accepts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2286000"/>
            <a:ext cx="3383280" cy="3291840"/>
          </a:xfrm>
          <a:prstGeom prst="roundRect">
            <a:avLst>
              <a:gd name="adj" fmla="val 2500"/>
            </a:avLst>
          </a:prstGeom>
          <a:solidFill>
            <a:srgbClr val="141B49"/>
          </a:solidFill>
          <a:ln/>
        </p:spPr>
      </p:sp>
      <p:sp>
        <p:nvSpPr>
          <p:cNvPr id="11" name="Shape 9"/>
          <p:cNvSpPr/>
          <p:nvPr/>
        </p:nvSpPr>
        <p:spPr>
          <a:xfrm>
            <a:off x="5737860" y="2491740"/>
            <a:ext cx="777240" cy="7772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2" name="Text 10"/>
          <p:cNvSpPr/>
          <p:nvPr/>
        </p:nvSpPr>
        <p:spPr>
          <a:xfrm>
            <a:off x="5737860" y="24917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3429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Example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09160" y="39776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hypothesis too general that wrongly accepts it must be specialized to exclude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383280" cy="3291840"/>
          </a:xfrm>
          <a:prstGeom prst="roundRect">
            <a:avLst>
              <a:gd name="adj" fmla="val 2500"/>
            </a:avLst>
          </a:prstGeom>
          <a:solidFill>
            <a:srgbClr val="141B49"/>
          </a:solidFill>
          <a:ln/>
        </p:spPr>
      </p:sp>
      <p:sp>
        <p:nvSpPr>
          <p:cNvPr id="16" name="Shape 14"/>
          <p:cNvSpPr/>
          <p:nvPr/>
        </p:nvSpPr>
        <p:spPr>
          <a:xfrm>
            <a:off x="9349740" y="2491740"/>
            <a:ext cx="777240" cy="77724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7" name="Text 15"/>
          <p:cNvSpPr/>
          <p:nvPr/>
        </p:nvSpPr>
        <p:spPr>
          <a:xfrm>
            <a:off x="9349740" y="24917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75320" y="3429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Check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21040" y="39776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hypothesis must correctly classify every training example seen so far.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Concept Learning to Real 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66360" cy="3566160"/>
          </a:xfrm>
          <a:prstGeom prst="roundRect">
            <a:avLst>
              <a:gd name="adj" fmla="val 2308"/>
            </a:avLst>
          </a:prstGeom>
          <a:solidFill>
            <a:srgbClr val="F6F7FB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Problems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7280" y="3520440"/>
            <a:ext cx="4617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hypothesis acts directly as a classifier, assigning new, unseen instances to the correct category based on the constraints it has refined from training data.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166360" cy="3566160"/>
          </a:xfrm>
          <a:prstGeom prst="roundRect">
            <a:avLst>
              <a:gd name="adj" fmla="val 2308"/>
            </a:avLst>
          </a:prstGeom>
          <a:solidFill>
            <a:srgbClr val="F6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537960" y="29260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Extraction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37960" y="3520440"/>
            <a:ext cx="4617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hypothesis is a compact, human-readable summary of the underlying pattern in the data — turning raw examples into explicit, reusable knowledge.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37260" y="2217420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6" name="Text 4"/>
          <p:cNvSpPr/>
          <p:nvPr/>
        </p:nvSpPr>
        <p:spPr>
          <a:xfrm>
            <a:off x="937260" y="22174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14884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problems (supervised, unsupervised, reinforcement) and perspectives (symbolic, statistical) define how a system approaches data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37260" y="3086100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Text 7"/>
          <p:cNvSpPr/>
          <p:nvPr/>
        </p:nvSpPr>
        <p:spPr>
          <a:xfrm>
            <a:off x="937260" y="30861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301752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overfitting, and computational complexity are the constraints every learning system design must balance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37260" y="3954780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2" name="Text 10"/>
          <p:cNvSpPr/>
          <p:nvPr/>
        </p:nvSpPr>
        <p:spPr>
          <a:xfrm>
            <a:off x="937260" y="39547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388620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learning frames classification as a search through a hypothesis space, ordered from general to specific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37260" y="4823460"/>
            <a:ext cx="502920" cy="50292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937260" y="48234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475488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examples — positive and negative — progressively refine hypotheses toward one consistent with all observed data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999</Words>
  <Application>Microsoft Office PowerPoint</Application>
  <PresentationFormat>Widescreen</PresentationFormat>
  <Paragraphs>175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Shaik Thouhid</cp:lastModifiedBy>
  <cp:revision>2</cp:revision>
  <dcterms:created xsi:type="dcterms:W3CDTF">2026-07-29T04:46:20Z</dcterms:created>
  <dcterms:modified xsi:type="dcterms:W3CDTF">2026-07-29T04:55:46Z</dcterms:modified>
</cp:coreProperties>
</file>